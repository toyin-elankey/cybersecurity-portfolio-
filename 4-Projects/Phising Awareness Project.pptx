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06"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3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8630DB-C2E1-4B06-B44A-6D833D03EDAD}" v="189" dt="2026-08-07T15:25:34.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8"/>
        <p:guide pos="38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63602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608298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6523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823639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8/7/2026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45012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85088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382555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3433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010411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06870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91462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07257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2606279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171023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35408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23787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67681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8/7/2026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3103530987"/>
      </p:ext>
    </p:extLst>
  </p:cSld>
  <p:clrMap bg1="dk1" tx1="lt1" bg2="dk2" tx2="lt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612" y="202248"/>
            <a:ext cx="9770301" cy="2387600"/>
          </a:xfrm>
        </p:spPr>
        <p:txBody>
          <a:bodyPr>
            <a:noAutofit/>
          </a:bodyPr>
          <a:lstStyle/>
          <a:p>
            <a:r>
              <a:rPr lang="en-US" altLang="en-GB" sz="6000" b="1" dirty="0">
                <a:solidFill>
                  <a:schemeClr val="bg1"/>
                </a:solidFill>
              </a:rPr>
              <a:t>CYBERSECURITY PHISING AWARENESS PROJECT</a:t>
            </a:r>
          </a:p>
        </p:txBody>
      </p:sp>
      <p:sp>
        <p:nvSpPr>
          <p:cNvPr id="3" name="Subtitle 2"/>
          <p:cNvSpPr>
            <a:spLocks noGrp="1"/>
          </p:cNvSpPr>
          <p:nvPr>
            <p:ph type="subTitle" idx="1"/>
          </p:nvPr>
        </p:nvSpPr>
        <p:spPr>
          <a:xfrm>
            <a:off x="1524000" y="3071178"/>
            <a:ext cx="9144000" cy="1655762"/>
          </a:xfrm>
        </p:spPr>
        <p:txBody>
          <a:bodyPr/>
          <a:lstStyle/>
          <a:p>
            <a:r>
              <a:rPr lang="en-US" b="1"/>
              <a:t>EMMANUEL ADEMOYEGA </a:t>
            </a:r>
          </a:p>
          <a:p>
            <a:r>
              <a:rPr lang="en-US" altLang="en-GB" b="1"/>
              <a:t>CA/DF1/233492</a:t>
            </a:r>
          </a:p>
          <a:p>
            <a:r>
              <a:rPr lang="en-US" altLang="en-GB" b="1"/>
              <a:t>August 19, 2026</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837" y="849376"/>
            <a:ext cx="9404723" cy="1400530"/>
          </a:xfrm>
        </p:spPr>
        <p:txBody>
          <a:bodyPr/>
          <a:lstStyle/>
          <a:p>
            <a:pPr algn="l"/>
            <a:r>
              <a:rPr lang="en-US" altLang="en-GB" b="1">
                <a:solidFill>
                  <a:schemeClr val="bg1"/>
                </a:solidFill>
              </a:rPr>
              <a:t>INTRODUCTION</a:t>
            </a:r>
            <a:r>
              <a:rPr lang="en-US" altLang="en-GB" dirty="0">
                <a:solidFill>
                  <a:schemeClr val="bg1"/>
                </a:solidFill>
              </a:rPr>
              <a:t> </a:t>
            </a:r>
          </a:p>
        </p:txBody>
      </p:sp>
      <p:sp>
        <p:nvSpPr>
          <p:cNvPr id="3" name="Content Placeholder 2"/>
          <p:cNvSpPr>
            <a:spLocks noGrp="1"/>
          </p:cNvSpPr>
          <p:nvPr>
            <p:ph idx="1"/>
          </p:nvPr>
        </p:nvSpPr>
        <p:spPr>
          <a:xfrm>
            <a:off x="257805" y="1865027"/>
            <a:ext cx="11430869" cy="4331179"/>
          </a:xfrm>
        </p:spPr>
        <p:txBody>
          <a:bodyPr vert="horz" lIns="91440" tIns="45720" rIns="91440" bIns="45720" rtlCol="0" anchor="t">
            <a:normAutofit/>
          </a:bodyPr>
          <a:lstStyle/>
          <a:p>
            <a:pPr marL="0" indent="0">
              <a:buNone/>
            </a:pPr>
            <a:r>
              <a:rPr lang="en-US" altLang="en-GB" sz="2400">
                <a:latin typeface="Times New Roman"/>
                <a:cs typeface="Times New Roman"/>
              </a:rPr>
              <a:t>Every day, individuals and organizations are targeted by cybercriminals who rely not on breaking through firewalls, but on tricking people into opening the door themselves. Phishing emails, fraudulent websites, and social engineering tactics remain among the most common and successful attack methods used today, precisely because they exploit trust, urgency, and human error rather than technical vulnerabilities.</a:t>
            </a:r>
          </a:p>
          <a:p>
            <a:pPr marL="0" indent="0">
              <a:buNone/>
            </a:pPr>
            <a:r>
              <a:rPr lang="en-US" altLang="en-GB" sz="2400">
                <a:latin typeface="Times New Roman"/>
                <a:cs typeface="Times New Roman"/>
              </a:rPr>
              <a:t>This project explores how to recognize phishing emails and fake websites, understand the psychological tactics attackers use to manipulate victims, and adopt practical habits that reduce the risk of falling victim to these schemes. </a:t>
            </a:r>
            <a:endParaRPr lang="en-US" altLang="en-GB" sz="2400">
              <a:latin typeface="Gill Sans MT"/>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b="1">
                <a:solidFill>
                  <a:schemeClr val="bg1"/>
                </a:solidFill>
              </a:rPr>
              <a:t>OBJECTIVES OF THIS PROJECT </a:t>
            </a:r>
          </a:p>
        </p:txBody>
      </p:sp>
      <p:sp>
        <p:nvSpPr>
          <p:cNvPr id="3" name="Content Placeholder 2"/>
          <p:cNvSpPr>
            <a:spLocks noGrp="1"/>
          </p:cNvSpPr>
          <p:nvPr>
            <p:ph idx="1"/>
          </p:nvPr>
        </p:nvSpPr>
        <p:spPr>
          <a:xfrm>
            <a:off x="278682" y="1332671"/>
            <a:ext cx="10700184" cy="4195481"/>
          </a:xfrm>
        </p:spPr>
        <p:txBody>
          <a:bodyPr vert="horz" lIns="91440" tIns="45720" rIns="91440" bIns="45720" rtlCol="0" anchor="t">
            <a:normAutofit/>
          </a:bodyPr>
          <a:lstStyle/>
          <a:p>
            <a:pPr marL="0" indent="0">
              <a:buNone/>
            </a:pPr>
            <a:endParaRPr lang="en-US" altLang="en-GB"/>
          </a:p>
          <a:p>
            <a:r>
              <a:rPr lang="en-US" altLang="en-GB">
                <a:latin typeface="Times New Roman"/>
                <a:cs typeface="Times New Roman"/>
              </a:rPr>
              <a:t>Explain how to recognize phishing emails and fake websites.</a:t>
            </a:r>
          </a:p>
          <a:p>
            <a:pPr marL="0" indent="0">
              <a:buNone/>
            </a:pPr>
            <a:endParaRPr lang="en-US" altLang="en-GB" dirty="0">
              <a:latin typeface="Times New Roman"/>
              <a:cs typeface="Times New Roman"/>
            </a:endParaRPr>
          </a:p>
          <a:p>
            <a:r>
              <a:rPr lang="en-US" altLang="en-GB">
                <a:latin typeface="Times New Roman"/>
                <a:cs typeface="Times New Roman"/>
              </a:rPr>
              <a:t>Educate readers about the social engineering tactics used by attackers.</a:t>
            </a:r>
            <a:endParaRPr lang="en-US" altLang="en-GB" dirty="0">
              <a:latin typeface="Times New Roman"/>
              <a:cs typeface="Times New Roman"/>
            </a:endParaRPr>
          </a:p>
          <a:p>
            <a:pPr marL="0" indent="0">
              <a:buNone/>
            </a:pPr>
            <a:endParaRPr lang="en-US" altLang="en-GB" dirty="0">
              <a:latin typeface="Times New Roman"/>
              <a:cs typeface="Times New Roman"/>
            </a:endParaRPr>
          </a:p>
          <a:p>
            <a:r>
              <a:rPr lang="en-US" altLang="en-GB">
                <a:latin typeface="Times New Roman"/>
                <a:cs typeface="Times New Roman"/>
              </a:rPr>
              <a:t>Provide practical best practices and tips to avoid falling victim.</a:t>
            </a:r>
            <a:endParaRPr lang="en-US" altLang="en-GB" dirty="0">
              <a:latin typeface="Times New Roman"/>
              <a:cs typeface="Times New Roman"/>
            </a:endParaRPr>
          </a:p>
          <a:p>
            <a:pPr marL="0" indent="0">
              <a:buNone/>
            </a:pPr>
            <a:endParaRPr lang="en-US" altLang="en-GB" dirty="0">
              <a:latin typeface="Times New Roman"/>
              <a:cs typeface="Times New Roman"/>
            </a:endParaRPr>
          </a:p>
          <a:p>
            <a:r>
              <a:rPr lang="en-US" altLang="en-GB">
                <a:latin typeface="Times New Roman"/>
                <a:cs typeface="Times New Roman"/>
              </a:rPr>
              <a:t>Reinforce learning with real-world examples and an interactive quiz.</a:t>
            </a:r>
            <a:endParaRPr lang="en-US" altLang="en-GB" dirty="0">
              <a:latin typeface="Times New Roman"/>
              <a:cs typeface="Times New Roman"/>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GB" b="1">
                <a:solidFill>
                  <a:schemeClr val="bg1"/>
                </a:solidFill>
              </a:rPr>
              <a:t>RECOGNISING PHISING EMAILS AND FAKE WEBSITES </a:t>
            </a:r>
          </a:p>
        </p:txBody>
      </p:sp>
      <p:sp>
        <p:nvSpPr>
          <p:cNvPr id="3" name="Content Placeholder 2"/>
          <p:cNvSpPr>
            <a:spLocks noGrp="1"/>
          </p:cNvSpPr>
          <p:nvPr>
            <p:ph idx="1"/>
          </p:nvPr>
        </p:nvSpPr>
        <p:spPr>
          <a:xfrm>
            <a:off x="365125" y="1691640"/>
            <a:ext cx="10988675" cy="4485640"/>
          </a:xfrm>
        </p:spPr>
        <p:txBody>
          <a:bodyPr vert="horz" lIns="91440" tIns="45720" rIns="91440" bIns="45720" rtlCol="0" anchor="t">
            <a:normAutofit/>
          </a:bodyPr>
          <a:lstStyle/>
          <a:p>
            <a:pPr marL="0" indent="0">
              <a:buNone/>
            </a:pPr>
            <a:endParaRPr lang="en-US" altLang="en-GB" dirty="0"/>
          </a:p>
          <a:p>
            <a:pPr marL="0" indent="0">
              <a:buNone/>
            </a:pPr>
            <a:r>
              <a:rPr lang="en-US" altLang="en-GB" sz="2400" dirty="0">
                <a:latin typeface="Times New Roman"/>
                <a:cs typeface="Times New Roman"/>
              </a:rPr>
              <a:t>Phishing is a form of cyberattack in which criminals impersonate legitimate organizations or individuals usually through email, text message, or a fake website in order to trick victims into revealing sensitive information such as passwords, banking details, or personal identification numbers. Although phishing attempts vary in sophistication.</a:t>
            </a:r>
            <a:endParaRPr lang="en-US" sz="2400">
              <a:latin typeface="Times New Roman"/>
              <a:cs typeface="Times New Roman"/>
            </a:endParaRPr>
          </a:p>
          <a:p>
            <a:pPr marL="0" indent="0">
              <a:buNone/>
            </a:pPr>
            <a:endParaRPr lang="en-US" altLang="en-GB" sz="2400" dirty="0">
              <a:latin typeface="Times New Roman"/>
              <a:cs typeface="Times New Roman"/>
            </a:endParaRPr>
          </a:p>
          <a:p>
            <a:pPr marL="0" indent="0">
              <a:buNone/>
            </a:pPr>
            <a:r>
              <a:rPr lang="en-US" altLang="en-GB" sz="2400" dirty="0"/>
              <a:t> </a:t>
            </a:r>
            <a:r>
              <a:rPr lang="en-US" altLang="en-GB" sz="2400" b="1">
                <a:latin typeface="Times New Roman"/>
                <a:cs typeface="Times New Roman"/>
              </a:rPr>
              <a:t>Anatomy of a Phishing Email</a:t>
            </a:r>
          </a:p>
          <a:p>
            <a:pPr marL="0" indent="0">
              <a:buNone/>
            </a:pPr>
            <a:r>
              <a:rPr lang="en-US" altLang="en-GB" sz="2400">
                <a:latin typeface="Times New Roman"/>
                <a:cs typeface="Times New Roman"/>
              </a:rPr>
              <a:t>Below shows how to spot these signals quickly is the first line of defense against email-based fraud.</a:t>
            </a:r>
            <a:endParaRPr lang="en-US" altLang="en-GB" sz="2400" dirty="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Grp="1" noChangeAspect="1" noChangeArrowheads="1"/>
          </p:cNvPicPr>
          <p:nvPr>
            <p:ph idx="1"/>
          </p:nvPr>
        </p:nvPicPr>
        <p:blipFill>
          <a:blip r:embed="rId2"/>
          <a:srcRect/>
          <a:stretch>
            <a:fillRect/>
          </a:stretch>
        </p:blipFill>
        <p:spPr>
          <a:xfrm>
            <a:off x="969627" y="1306256"/>
            <a:ext cx="10053320" cy="51161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custDataLst>
              <p:tags r:id="rId1"/>
            </p:custDataLst>
            <p:extLst>
              <p:ext uri="{D42A27DB-BD31-4B8C-83A1-F6EECF244321}">
                <p14:modId xmlns:p14="http://schemas.microsoft.com/office/powerpoint/2010/main" val="3579495981"/>
              </p:ext>
            </p:extLst>
          </p:nvPr>
        </p:nvGraphicFramePr>
        <p:xfrm>
          <a:off x="709808" y="1336109"/>
          <a:ext cx="10791263" cy="4614395"/>
        </p:xfrm>
        <a:graphic>
          <a:graphicData uri="http://schemas.openxmlformats.org/drawingml/2006/table">
            <a:tbl>
              <a:tblPr/>
              <a:tblGrid>
                <a:gridCol w="4095749">
                  <a:extLst>
                    <a:ext uri="{9D8B030D-6E8A-4147-A177-3AD203B41FA5}">
                      <a16:colId xmlns:a16="http://schemas.microsoft.com/office/drawing/2014/main" val="20000"/>
                    </a:ext>
                  </a:extLst>
                </a:gridCol>
                <a:gridCol w="6695514">
                  <a:extLst>
                    <a:ext uri="{9D8B030D-6E8A-4147-A177-3AD203B41FA5}">
                      <a16:colId xmlns:a16="http://schemas.microsoft.com/office/drawing/2014/main" val="20001"/>
                    </a:ext>
                  </a:extLst>
                </a:gridCol>
              </a:tblGrid>
              <a:tr h="896470">
                <a:tc>
                  <a:txBody>
                    <a:bodyPr/>
                    <a:lstStyle/>
                    <a:p>
                      <a:pPr marL="0" indent="0">
                        <a:spcBef>
                          <a:spcPct val="0"/>
                        </a:spcBef>
                        <a:spcAft>
                          <a:spcPct val="0"/>
                        </a:spcAft>
                      </a:pPr>
                      <a:r>
                        <a:rPr sz="1000" b="1">
                          <a:solidFill>
                            <a:srgbClr val="FFFFFF"/>
                          </a:solidFill>
                          <a:latin typeface="Calibri" panose="020F0502020204030204"/>
                          <a:ea typeface="Calibri" panose="020F0502020204030204"/>
                        </a:rPr>
                        <a:t>Warning Sign</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B2A4A"/>
                    </a:solidFill>
                  </a:tcPr>
                </a:tc>
                <a:tc>
                  <a:txBody>
                    <a:bodyPr/>
                    <a:lstStyle/>
                    <a:p>
                      <a:pPr marL="0" indent="0">
                        <a:spcBef>
                          <a:spcPct val="0"/>
                        </a:spcBef>
                        <a:spcAft>
                          <a:spcPct val="0"/>
                        </a:spcAft>
                      </a:pPr>
                      <a:r>
                        <a:rPr sz="1000" b="1">
                          <a:solidFill>
                            <a:srgbClr val="FFFFFF"/>
                          </a:solidFill>
                          <a:latin typeface="Calibri" panose="020F0502020204030204"/>
                          <a:ea typeface="Calibri" panose="020F0502020204030204"/>
                        </a:rPr>
                        <a:t>What to Look For</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B2A4A"/>
                    </a:solidFill>
                  </a:tcPr>
                </a:tc>
                <a:extLst>
                  <a:ext uri="{0D108BD9-81ED-4DB2-BD59-A6C34878D82A}">
                    <a16:rowId xmlns:a16="http://schemas.microsoft.com/office/drawing/2014/main" val="10000"/>
                  </a:ext>
                </a:extLst>
              </a:tr>
              <a:tr h="515620">
                <a:tc>
                  <a:txBody>
                    <a:bodyPr/>
                    <a:lstStyle/>
                    <a:p>
                      <a:pPr marL="0" indent="0">
                        <a:spcBef>
                          <a:spcPct val="0"/>
                        </a:spcBef>
                        <a:spcAft>
                          <a:spcPct val="0"/>
                        </a:spcAft>
                      </a:pPr>
                      <a:r>
                        <a:rPr sz="1000" b="0">
                          <a:solidFill>
                            <a:srgbClr val="1B2A4A"/>
                          </a:solidFill>
                          <a:latin typeface="Calibri" panose="020F0502020204030204"/>
                          <a:ea typeface="Calibri" panose="020F0502020204030204"/>
                        </a:rPr>
                        <a:t>Sender address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Domain is misspelled, uses free email services, or does not match the organization's real domain.</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1"/>
                  </a:ext>
                </a:extLst>
              </a:tr>
              <a:tr h="791210">
                <a:tc>
                  <a:txBody>
                    <a:bodyPr/>
                    <a:lstStyle/>
                    <a:p>
                      <a:pPr marL="0" indent="0">
                        <a:spcBef>
                          <a:spcPct val="0"/>
                        </a:spcBef>
                        <a:spcAft>
                          <a:spcPct val="0"/>
                        </a:spcAft>
                      </a:pPr>
                      <a:r>
                        <a:rPr sz="1000" b="0">
                          <a:solidFill>
                            <a:srgbClr val="1B2A4A"/>
                          </a:solidFill>
                          <a:latin typeface="Calibri" panose="020F0502020204030204"/>
                          <a:ea typeface="Calibri" panose="020F0502020204030204"/>
                        </a:rPr>
                        <a:t>Urgency or threats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Messages that pressure you to act “immediately” or threaten account suspension, fines, or legal action.</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2"/>
                  </a:ext>
                </a:extLst>
              </a:tr>
              <a:tr h="333375">
                <a:tc>
                  <a:txBody>
                    <a:bodyPr/>
                    <a:lstStyle/>
                    <a:p>
                      <a:pPr marL="0" indent="0">
                        <a:spcBef>
                          <a:spcPct val="0"/>
                        </a:spcBef>
                        <a:spcAft>
                          <a:spcPct val="0"/>
                        </a:spcAft>
                      </a:pPr>
                      <a:r>
                        <a:rPr sz="1000" b="0">
                          <a:solidFill>
                            <a:srgbClr val="1B2A4A"/>
                          </a:solidFill>
                          <a:latin typeface="Calibri" panose="020F0502020204030204"/>
                          <a:ea typeface="Calibri" panose="020F0502020204030204"/>
                        </a:rPr>
                        <a:t>Generic greetings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“Dear Customer” or “Dear User” instead of your actual name.</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3"/>
                  </a:ext>
                </a:extLst>
              </a:tr>
              <a:tr h="333375">
                <a:tc>
                  <a:txBody>
                    <a:bodyPr/>
                    <a:lstStyle/>
                    <a:p>
                      <a:pPr marL="0" indent="0">
                        <a:spcBef>
                          <a:spcPct val="0"/>
                        </a:spcBef>
                        <a:spcAft>
                          <a:spcPct val="0"/>
                        </a:spcAft>
                      </a:pPr>
                      <a:r>
                        <a:rPr sz="1000" b="0">
                          <a:solidFill>
                            <a:srgbClr val="1B2A4A"/>
                          </a:solidFill>
                          <a:latin typeface="Calibri" panose="020F0502020204030204"/>
                          <a:ea typeface="Calibri" panose="020F0502020204030204"/>
                        </a:rPr>
                        <a:t>Suspicious links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Hyperlinked text that does not match the actual URL when hovered over.</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4"/>
                  </a:ext>
                </a:extLst>
              </a:tr>
              <a:tr h="332105">
                <a:tc>
                  <a:txBody>
                    <a:bodyPr/>
                    <a:lstStyle/>
                    <a:p>
                      <a:pPr marL="0" indent="0">
                        <a:spcBef>
                          <a:spcPct val="0"/>
                        </a:spcBef>
                        <a:spcAft>
                          <a:spcPct val="0"/>
                        </a:spcAft>
                      </a:pPr>
                      <a:r>
                        <a:rPr sz="1000" b="0">
                          <a:solidFill>
                            <a:srgbClr val="1B2A4A"/>
                          </a:solidFill>
                          <a:latin typeface="Calibri" panose="020F0502020204030204"/>
                          <a:ea typeface="Calibri" panose="020F0502020204030204"/>
                        </a:rPr>
                        <a:t>Unexpected attachments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Files you did not request, especially .exe, .zip, or macro-enabled documents.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5"/>
                  </a:ext>
                </a:extLst>
              </a:tr>
              <a:tr h="515620">
                <a:tc>
                  <a:txBody>
                    <a:bodyPr/>
                    <a:lstStyle/>
                    <a:p>
                      <a:pPr marL="0" indent="0">
                        <a:spcBef>
                          <a:spcPct val="0"/>
                        </a:spcBef>
                        <a:spcAft>
                          <a:spcPct val="0"/>
                        </a:spcAft>
                      </a:pPr>
                      <a:r>
                        <a:rPr sz="1000" b="0">
                          <a:solidFill>
                            <a:srgbClr val="1B2A4A"/>
                          </a:solidFill>
                          <a:latin typeface="Calibri" panose="020F0502020204030204"/>
                          <a:ea typeface="Calibri" panose="020F0502020204030204"/>
                        </a:rPr>
                        <a:t>Requests for sensitive data</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Legitimate organizations rarely ask for passwords, PINs, or full card numbers by email.</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6"/>
                  </a:ext>
                </a:extLst>
              </a:tr>
              <a:tr h="332740">
                <a:tc>
                  <a:txBody>
                    <a:bodyPr/>
                    <a:lstStyle/>
                    <a:p>
                      <a:pPr marL="0" indent="0">
                        <a:spcBef>
                          <a:spcPct val="0"/>
                        </a:spcBef>
                        <a:spcAft>
                          <a:spcPct val="0"/>
                        </a:spcAft>
                      </a:pPr>
                      <a:r>
                        <a:rPr sz="1000" b="0">
                          <a:solidFill>
                            <a:srgbClr val="1B2A4A"/>
                          </a:solidFill>
                          <a:latin typeface="Calibri" panose="020F0502020204030204"/>
                          <a:ea typeface="Calibri" panose="020F0502020204030204"/>
                        </a:rPr>
                        <a:t>Poor spelling/grammar</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Frequent typos or awkward phrasing, often a sign of a non-official source.</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7"/>
                  </a:ext>
                </a:extLst>
              </a:tr>
              <a:tr h="563880">
                <a:tc>
                  <a:txBody>
                    <a:bodyPr/>
                    <a:lstStyle/>
                    <a:p>
                      <a:pPr marL="0" indent="0">
                        <a:spcBef>
                          <a:spcPct val="0"/>
                        </a:spcBef>
                        <a:spcAft>
                          <a:spcPct val="0"/>
                        </a:spcAft>
                      </a:pPr>
                      <a:r>
                        <a:rPr sz="1000" b="0">
                          <a:solidFill>
                            <a:srgbClr val="1B2A4A"/>
                          </a:solidFill>
                          <a:latin typeface="Calibri" panose="020F0502020204030204"/>
                          <a:ea typeface="Calibri" panose="020F0502020204030204"/>
                        </a:rPr>
                        <a:t>Too-good-to-be-true offers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000000"/>
                          </a:solidFill>
                          <a:latin typeface="Calibri" panose="020F0502020204030204"/>
                          <a:ea typeface="Calibri" panose="020F0502020204030204"/>
                        </a:rPr>
                        <a:t>Unexpected prizes, refunds, or lottery winnings requiring “verification” first.</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8"/>
                  </a:ext>
                </a:extLst>
              </a:tr>
            </a:tbl>
          </a:graphicData>
        </a:graphic>
      </p:graphicFrame>
      <p:sp>
        <p:nvSpPr>
          <p:cNvPr id="5" name="Text Box 4"/>
          <p:cNvSpPr txBox="1"/>
          <p:nvPr/>
        </p:nvSpPr>
        <p:spPr>
          <a:xfrm>
            <a:off x="542202" y="748126"/>
            <a:ext cx="5013891" cy="461665"/>
          </a:xfrm>
          <a:prstGeom prst="rect">
            <a:avLst/>
          </a:prstGeom>
          <a:noFill/>
        </p:spPr>
        <p:txBody>
          <a:bodyPr wrap="square" lIns="91440" tIns="45720" rIns="91440" bIns="45720" rtlCol="0" anchor="t">
            <a:spAutoFit/>
          </a:bodyPr>
          <a:lstStyle/>
          <a:p>
            <a:r>
              <a:rPr lang="en-US" altLang="en-GB" sz="2400" b="1">
                <a:solidFill>
                  <a:schemeClr val="bg1"/>
                </a:solidFill>
              </a:rPr>
              <a:t>Red Flags in Suspicious Email</a:t>
            </a:r>
            <a:r>
              <a:rPr lang="en-US" altLang="en-GB" dirty="0">
                <a:solidFill>
                  <a:schemeClr val="bg1"/>
                </a:solidFill>
              </a:rPr>
              <a:t> </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7" y="390960"/>
            <a:ext cx="11055985" cy="1325880"/>
          </a:xfrm>
        </p:spPr>
        <p:txBody>
          <a:bodyPr/>
          <a:lstStyle/>
          <a:p>
            <a:r>
              <a:rPr lang="en-US" altLang="en-GB" b="1">
                <a:solidFill>
                  <a:schemeClr val="bg1"/>
                </a:solidFill>
              </a:rPr>
              <a:t>Recognizing</a:t>
            </a:r>
            <a:r>
              <a:rPr lang="en-US" altLang="en-GB" b="1" dirty="0">
                <a:solidFill>
                  <a:schemeClr val="bg1"/>
                </a:solidFill>
              </a:rPr>
              <a:t> Fake Website </a:t>
            </a:r>
          </a:p>
        </p:txBody>
      </p:sp>
      <p:sp>
        <p:nvSpPr>
          <p:cNvPr id="3" name="Content Placeholder 2"/>
          <p:cNvSpPr>
            <a:spLocks noGrp="1"/>
          </p:cNvSpPr>
          <p:nvPr>
            <p:ph idx="1"/>
          </p:nvPr>
        </p:nvSpPr>
        <p:spPr>
          <a:xfrm>
            <a:off x="162117" y="1362075"/>
            <a:ext cx="11634913" cy="4815205"/>
          </a:xfrm>
        </p:spPr>
        <p:txBody>
          <a:bodyPr vert="horz" lIns="91440" tIns="45720" rIns="91440" bIns="45720" rtlCol="0" anchor="t">
            <a:normAutofit/>
          </a:bodyPr>
          <a:lstStyle/>
          <a:p>
            <a:pPr marL="0" indent="0">
              <a:buNone/>
            </a:pPr>
            <a:r>
              <a:rPr lang="en-US" altLang="en-GB" sz="2400">
                <a:latin typeface="Times New Roman"/>
                <a:cs typeface="Times New Roman"/>
              </a:rPr>
              <a:t>Fake or 'spoofed' websites are designed to closely imitate legitimate ones  often to harvest login credentials or payment information. The comparison below highlights the key differences between a genuine website and a fraudulent copy.</a:t>
            </a:r>
            <a:endParaRPr lang="en-US" sz="2400">
              <a:latin typeface="Times New Roman"/>
              <a:cs typeface="Times New Roman"/>
            </a:endParaRPr>
          </a:p>
          <a:p>
            <a:pPr marL="0" indent="0">
              <a:buNone/>
            </a:pPr>
            <a:endParaRPr lang="en-US" altLang="en-GB" dirty="0">
              <a:latin typeface="Times New Roman"/>
              <a:cs typeface="Times New Roman"/>
            </a:endParaRPr>
          </a:p>
          <a:p>
            <a:pPr marL="0" indent="0">
              <a:buNone/>
            </a:pPr>
            <a:endParaRPr lang="en-US" altLang="en-GB"/>
          </a:p>
        </p:txBody>
      </p:sp>
      <p:pic>
        <p:nvPicPr>
          <p:cNvPr id="4" name="Picture 3" descr="ChatGPT Image Aug 7, 2026, 01_01_45 PM"/>
          <p:cNvPicPr>
            <a:picLocks noChangeAspect="1"/>
          </p:cNvPicPr>
          <p:nvPr/>
        </p:nvPicPr>
        <p:blipFill>
          <a:blip r:embed="rId2"/>
          <a:stretch>
            <a:fillRect/>
          </a:stretch>
        </p:blipFill>
        <p:spPr>
          <a:xfrm>
            <a:off x="1062668" y="2746757"/>
            <a:ext cx="9825756" cy="39071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 y="93728"/>
            <a:ext cx="11200130" cy="1325880"/>
          </a:xfrm>
        </p:spPr>
        <p:txBody>
          <a:bodyPr/>
          <a:lstStyle/>
          <a:p>
            <a:r>
              <a:rPr lang="en-US" altLang="en-GB" b="1">
                <a:solidFill>
                  <a:schemeClr val="bg1"/>
                </a:solidFill>
              </a:rPr>
              <a:t>HOW TO VERIFY A GENUINE WEBSITE</a:t>
            </a:r>
            <a:r>
              <a:rPr lang="en-US" altLang="en-GB" dirty="0"/>
              <a:t> </a:t>
            </a:r>
          </a:p>
        </p:txBody>
      </p:sp>
      <p:sp>
        <p:nvSpPr>
          <p:cNvPr id="3" name="Content Placeholder 2"/>
          <p:cNvSpPr>
            <a:spLocks noGrp="1"/>
          </p:cNvSpPr>
          <p:nvPr>
            <p:ph idx="1"/>
          </p:nvPr>
        </p:nvSpPr>
        <p:spPr>
          <a:xfrm>
            <a:off x="-2905" y="1122020"/>
            <a:ext cx="11547475" cy="4621530"/>
          </a:xfrm>
        </p:spPr>
        <p:txBody>
          <a:bodyPr vert="horz" lIns="91440" tIns="45720" rIns="91440" bIns="45720" rtlCol="0" anchor="t">
            <a:noAutofit/>
          </a:bodyPr>
          <a:lstStyle/>
          <a:p>
            <a:r>
              <a:rPr lang="en-US" altLang="en-GB" sz="2500" dirty="0">
                <a:latin typeface="Times New Roman"/>
                <a:cs typeface="Times New Roman"/>
              </a:rPr>
              <a:t>Check the URL carefully for misspellings, extra words, or unusual domain extensions (e.g., </a:t>
            </a:r>
            <a:r>
              <a:rPr lang="en-US" altLang="en-GB" sz="2500" dirty="0" err="1">
                <a:latin typeface="Times New Roman"/>
                <a:cs typeface="Times New Roman"/>
              </a:rPr>
              <a:t>.net</a:t>
            </a:r>
            <a:r>
              <a:rPr lang="en-US" altLang="en-GB" sz="2500" dirty="0">
                <a:latin typeface="Times New Roman"/>
                <a:cs typeface="Times New Roman"/>
              </a:rPr>
              <a:t> instead of .com).</a:t>
            </a:r>
          </a:p>
          <a:p>
            <a:r>
              <a:rPr lang="en-US" altLang="en-GB" sz="2500">
                <a:latin typeface="Times New Roman"/>
                <a:cs typeface="Times New Roman"/>
              </a:rPr>
              <a:t>Look for “https://” and a padlock icon in the address bar, indicating an encrypted connection.</a:t>
            </a:r>
            <a:endParaRPr lang="en-US" altLang="en-GB" sz="2500" dirty="0">
              <a:latin typeface="Times New Roman"/>
              <a:cs typeface="Times New Roman"/>
            </a:endParaRPr>
          </a:p>
          <a:p>
            <a:r>
              <a:rPr lang="en-US" altLang="en-GB" sz="2500">
                <a:latin typeface="Times New Roman"/>
                <a:cs typeface="Times New Roman"/>
              </a:rPr>
              <a:t>Hover over links before clicking to preview the actual destination URL.</a:t>
            </a:r>
            <a:endParaRPr lang="en-US" altLang="en-GB" sz="2500" dirty="0">
              <a:latin typeface="Times New Roman"/>
              <a:cs typeface="Times New Roman"/>
            </a:endParaRPr>
          </a:p>
          <a:p>
            <a:r>
              <a:rPr lang="en-US" altLang="en-GB" sz="2500">
                <a:latin typeface="Times New Roman"/>
                <a:cs typeface="Times New Roman"/>
              </a:rPr>
              <a:t>Be cautious of sites with poor grammar, low-resolution logos, or inconsistent formatting.</a:t>
            </a:r>
            <a:endParaRPr lang="en-US" altLang="en-GB" sz="2500" dirty="0">
              <a:latin typeface="Times New Roman"/>
              <a:cs typeface="Times New Roman"/>
            </a:endParaRPr>
          </a:p>
          <a:p>
            <a:r>
              <a:rPr lang="en-US" altLang="en-GB" sz="2500">
                <a:latin typeface="Times New Roman"/>
                <a:cs typeface="Times New Roman"/>
              </a:rPr>
              <a:t>Never enter sensitive information (PIN, OTP, full card number) on a site reached via an unsolicited email or text link.</a:t>
            </a:r>
            <a:endParaRPr lang="en-US" altLang="en-GB" sz="2500" dirty="0">
              <a:latin typeface="Times New Roman"/>
              <a:cs typeface="Times New Roman"/>
            </a:endParaRPr>
          </a:p>
          <a:p>
            <a:r>
              <a:rPr lang="en-US" altLang="en-GB" sz="2500">
                <a:latin typeface="Times New Roman"/>
                <a:cs typeface="Times New Roman"/>
              </a:rPr>
              <a:t>When in doubt, type the organization's website address directly into the browser instead of clicking a link.</a:t>
            </a:r>
            <a:endParaRPr lang="en-US" altLang="en-GB" sz="2500" dirty="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085" y="1050925"/>
            <a:ext cx="11151235" cy="960120"/>
          </a:xfrm>
        </p:spPr>
        <p:txBody>
          <a:bodyPr/>
          <a:lstStyle/>
          <a:p>
            <a:r>
              <a:rPr lang="en-US" altLang="en-GB" b="1">
                <a:solidFill>
                  <a:schemeClr val="bg1"/>
                </a:solidFill>
              </a:rPr>
              <a:t>SOCIAL ENGINEERING TATICS </a:t>
            </a:r>
          </a:p>
        </p:txBody>
      </p:sp>
      <p:sp>
        <p:nvSpPr>
          <p:cNvPr id="3" name="Content Placeholder 2"/>
          <p:cNvSpPr>
            <a:spLocks noGrp="1"/>
          </p:cNvSpPr>
          <p:nvPr>
            <p:ph idx="1"/>
          </p:nvPr>
        </p:nvSpPr>
        <p:spPr>
          <a:xfrm>
            <a:off x="217170" y="2203450"/>
            <a:ext cx="11758295" cy="3531235"/>
          </a:xfrm>
        </p:spPr>
        <p:txBody>
          <a:bodyPr vert="horz" lIns="91440" tIns="45720" rIns="91440" bIns="45720" rtlCol="0" anchor="t">
            <a:normAutofit/>
          </a:bodyPr>
          <a:lstStyle/>
          <a:p>
            <a:pPr marL="0" indent="0">
              <a:buNone/>
            </a:pPr>
            <a:r>
              <a:rPr lang="en-US" altLang="en-GB" sz="2800">
                <a:latin typeface="Times New Roman"/>
                <a:cs typeface="Times New Roman"/>
              </a:rPr>
              <a:t>Social engineering is the art of psychological manipulation used to trick people into breaking normal security procedures, divulging confidential information, or granting unauthorized access. Rather than exploiting software vulnerabilities, attackers exploit human tendencies such as trust, fear, curiosity, and the desire to be helpful.</a:t>
            </a:r>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ChatGPT Image Aug 7, 2026, 01_46_19 PM"/>
          <p:cNvPicPr>
            <a:picLocks noGrp="1" noChangeAspect="1"/>
          </p:cNvPicPr>
          <p:nvPr>
            <p:ph idx="1"/>
          </p:nvPr>
        </p:nvPicPr>
        <p:blipFill>
          <a:blip r:embed="rId2"/>
          <a:stretch>
            <a:fillRect/>
          </a:stretch>
        </p:blipFill>
        <p:spPr>
          <a:xfrm>
            <a:off x="627050" y="938226"/>
            <a:ext cx="10478613" cy="56984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145" y="365125"/>
            <a:ext cx="11209655" cy="960120"/>
          </a:xfrm>
        </p:spPr>
        <p:txBody>
          <a:bodyPr/>
          <a:lstStyle/>
          <a:p>
            <a:r>
              <a:rPr lang="en-US" altLang="en-GB" b="1">
                <a:solidFill>
                  <a:schemeClr val="bg1"/>
                </a:solidFill>
              </a:rPr>
              <a:t>COMMON TATICS EXPLAINED</a:t>
            </a:r>
            <a:r>
              <a:rPr lang="en-US" altLang="en-GB" b="1" dirty="0"/>
              <a:t> </a:t>
            </a:r>
          </a:p>
        </p:txBody>
      </p:sp>
      <p:sp>
        <p:nvSpPr>
          <p:cNvPr id="3" name="Content Placeholder 2"/>
          <p:cNvSpPr>
            <a:spLocks noGrp="1"/>
          </p:cNvSpPr>
          <p:nvPr>
            <p:ph idx="1"/>
          </p:nvPr>
        </p:nvSpPr>
        <p:spPr>
          <a:xfrm>
            <a:off x="307975" y="1326228"/>
            <a:ext cx="11585575" cy="5036185"/>
          </a:xfrm>
        </p:spPr>
        <p:txBody>
          <a:bodyPr vert="horz" lIns="91440" tIns="45720" rIns="91440" bIns="45720" rtlCol="0" anchor="t">
            <a:normAutofit fontScale="95000"/>
          </a:bodyPr>
          <a:lstStyle/>
          <a:p>
            <a:r>
              <a:rPr lang="en-US" altLang="en-GB" sz="2100">
                <a:latin typeface="Times New Roman"/>
                <a:cs typeface="Times New Roman"/>
              </a:rPr>
              <a:t>Phishing : mass or targeted fraudulent emails impersonating trusted organizations to steal credentials or spread malware.</a:t>
            </a:r>
          </a:p>
          <a:p>
            <a:r>
              <a:rPr lang="en-US" altLang="en-GB" sz="2100">
                <a:latin typeface="Times New Roman"/>
                <a:cs typeface="Times New Roman"/>
              </a:rPr>
              <a:t>Pretexting : the attacker fabricates a believable scenario (e.g., posing as IT support or a bank official) to gain the target's trust and extract information.</a:t>
            </a:r>
          </a:p>
          <a:p>
            <a:r>
              <a:rPr lang="en-US" altLang="en-GB" sz="2100">
                <a:latin typeface="Times New Roman"/>
                <a:cs typeface="Times New Roman"/>
              </a:rPr>
              <a:t>Baiting : victims are lured with a tempting offer, such as a free download or a USB drive left in a public place, that installs malware once accessed.</a:t>
            </a:r>
          </a:p>
          <a:p>
            <a:r>
              <a:rPr lang="en-US" altLang="en-GB" sz="2100">
                <a:latin typeface="Times New Roman"/>
                <a:cs typeface="Times New Roman"/>
              </a:rPr>
              <a:t>Vishing (voice phishing) : phone calls impersonating banks, government agencies, or tech support to pressure victims into revealing information.</a:t>
            </a:r>
          </a:p>
          <a:p>
            <a:r>
              <a:rPr lang="en-US" altLang="en-GB" sz="2100">
                <a:latin typeface="Times New Roman"/>
                <a:cs typeface="Times New Roman"/>
              </a:rPr>
              <a:t>Smishing (SMS phishing) : fraudulent text messages containing malicious links or urgent requests.</a:t>
            </a:r>
          </a:p>
          <a:p>
            <a:r>
              <a:rPr lang="en-US" altLang="en-GB" sz="2100">
                <a:latin typeface="Times New Roman"/>
                <a:cs typeface="Times New Roman"/>
              </a:rPr>
              <a:t>Tailgating / Piggybacking : an attacker physically follows an authorized employee into a restricted area without proper credentials.</a:t>
            </a:r>
          </a:p>
          <a:p>
            <a:r>
              <a:rPr lang="en-US" altLang="en-GB" sz="2100">
                <a:latin typeface="Times New Roman"/>
                <a:cs typeface="Times New Roman"/>
              </a:rPr>
              <a:t>Quid Pro Quo : attackers offer a fake service or benefit (e.g., “free IT support”) in exchange for login credentials or system access.</a:t>
            </a:r>
          </a:p>
        </p:txBody>
      </p:sp>
    </p:spTree>
  </p:cSld>
  <p:clrMapOvr>
    <a:masterClrMapping/>
  </p:clrMapOvr>
  <p:transition spd="slow">
    <p:wheel spokes="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670" y="365125"/>
            <a:ext cx="11200130" cy="1325880"/>
          </a:xfrm>
        </p:spPr>
        <p:txBody>
          <a:bodyPr/>
          <a:lstStyle/>
          <a:p>
            <a:r>
              <a:rPr lang="en-US" altLang="en-GB" b="1">
                <a:solidFill>
                  <a:schemeClr val="bg1"/>
                </a:solidFill>
              </a:rPr>
              <a:t>THE PHISING ATTACK LIFE-CYCLE</a:t>
            </a:r>
            <a:r>
              <a:rPr lang="en-US" altLang="en-GB" dirty="0">
                <a:solidFill>
                  <a:schemeClr val="bg1"/>
                </a:solidFill>
              </a:rPr>
              <a:t> </a:t>
            </a:r>
          </a:p>
        </p:txBody>
      </p:sp>
      <p:sp>
        <p:nvSpPr>
          <p:cNvPr id="3" name="Content Placeholder 2"/>
          <p:cNvSpPr>
            <a:spLocks noGrp="1"/>
          </p:cNvSpPr>
          <p:nvPr>
            <p:ph idx="1"/>
          </p:nvPr>
        </p:nvSpPr>
        <p:spPr>
          <a:xfrm>
            <a:off x="153670" y="1825625"/>
            <a:ext cx="11903710" cy="4351655"/>
          </a:xfrm>
        </p:spPr>
        <p:txBody>
          <a:bodyPr vert="horz" lIns="91440" tIns="45720" rIns="91440" bIns="45720" rtlCol="0" anchor="t">
            <a:normAutofit/>
          </a:bodyPr>
          <a:lstStyle/>
          <a:p>
            <a:pPr marL="0" indent="0">
              <a:buNone/>
            </a:pPr>
            <a:r>
              <a:rPr lang="en-US" altLang="en-GB" sz="2400">
                <a:latin typeface="Times New Roman"/>
                <a:cs typeface="Times New Roman"/>
              </a:rPr>
              <a:t>Understanding how an attack unfolds : from reconnaissance to exploitation. This helps explain why these tactics are so effective and where individuals can intervene to stop them.</a:t>
            </a:r>
          </a:p>
          <a:p>
            <a:endParaRPr lang="en-US" altLang="en-GB"/>
          </a:p>
        </p:txBody>
      </p:sp>
      <p:pic>
        <p:nvPicPr>
          <p:cNvPr id="4" name="Picture 4"/>
          <p:cNvPicPr>
            <a:picLocks noChangeAspect="1" noChangeArrowheads="1"/>
          </p:cNvPicPr>
          <p:nvPr/>
        </p:nvPicPr>
        <p:blipFill>
          <a:blip r:embed="rId2"/>
          <a:srcRect/>
          <a:stretch>
            <a:fillRect/>
          </a:stretch>
        </p:blipFill>
        <p:spPr>
          <a:xfrm>
            <a:off x="153627" y="3053219"/>
            <a:ext cx="9083040" cy="18872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 y="375564"/>
            <a:ext cx="11219180" cy="814401"/>
          </a:xfrm>
        </p:spPr>
        <p:txBody>
          <a:bodyPr/>
          <a:lstStyle/>
          <a:p>
            <a:r>
              <a:rPr lang="en-US" altLang="en-GB" b="1">
                <a:solidFill>
                  <a:schemeClr val="bg1"/>
                </a:solidFill>
              </a:rPr>
              <a:t>WHY THESE TATICS WORK</a:t>
            </a:r>
            <a:r>
              <a:rPr lang="en-US" altLang="en-GB" dirty="0">
                <a:solidFill>
                  <a:schemeClr val="bg1"/>
                </a:solidFill>
              </a:rPr>
              <a:t> </a:t>
            </a:r>
          </a:p>
        </p:txBody>
      </p:sp>
      <p:sp>
        <p:nvSpPr>
          <p:cNvPr id="3" name="Content Placeholder 2"/>
          <p:cNvSpPr>
            <a:spLocks noGrp="1"/>
          </p:cNvSpPr>
          <p:nvPr>
            <p:ph idx="1"/>
          </p:nvPr>
        </p:nvSpPr>
        <p:spPr>
          <a:xfrm>
            <a:off x="129497" y="994940"/>
            <a:ext cx="11219180" cy="5254285"/>
          </a:xfrm>
        </p:spPr>
        <p:txBody>
          <a:bodyPr vert="horz" lIns="91440" tIns="45720" rIns="91440" bIns="45720" rtlCol="0" anchor="t">
            <a:noAutofit/>
          </a:bodyPr>
          <a:lstStyle/>
          <a:p>
            <a:pPr marL="0" indent="0">
              <a:buNone/>
            </a:pPr>
            <a:endParaRPr lang="en-US" altLang="en-GB"/>
          </a:p>
          <a:p>
            <a:pPr marL="0" indent="0">
              <a:buNone/>
            </a:pPr>
            <a:r>
              <a:rPr lang="en-US" altLang="en-GB" sz="2400">
                <a:latin typeface="Times New Roman"/>
                <a:cs typeface="Times New Roman"/>
              </a:rPr>
              <a:t>Social engineering succeeds because it targets predictable human responses rather than technical flaws. Examples </a:t>
            </a:r>
          </a:p>
          <a:p>
            <a:pPr marL="0" indent="0">
              <a:buNone/>
            </a:pPr>
            <a:endParaRPr lang="en-US" altLang="en-GB" sz="2400" dirty="0">
              <a:latin typeface="Times New Roman"/>
              <a:cs typeface="Times New Roman"/>
            </a:endParaRPr>
          </a:p>
          <a:p>
            <a:r>
              <a:rPr lang="en-US" altLang="en-GB" sz="2400">
                <a:latin typeface="Times New Roman"/>
                <a:cs typeface="Times New Roman"/>
              </a:rPr>
              <a:t>Authority : people tend to comply with requests that appear to come from a boss, bank, or government agency.</a:t>
            </a:r>
          </a:p>
          <a:p>
            <a:r>
              <a:rPr lang="en-US" altLang="en-GB" sz="2400">
                <a:latin typeface="Times New Roman"/>
                <a:cs typeface="Times New Roman"/>
              </a:rPr>
              <a:t>Urgency and fear: pressure to act quickly reduces careful judgment and increases the likelihood of mistakes.</a:t>
            </a:r>
          </a:p>
          <a:p>
            <a:r>
              <a:rPr lang="en-US" altLang="en-GB" sz="2400">
                <a:latin typeface="Times New Roman"/>
                <a:cs typeface="Times New Roman"/>
              </a:rPr>
              <a:t>Trust and familiarity : messages that mimic known brands or colleagues lower a victim's guard.</a:t>
            </a:r>
            <a:endParaRPr lang="en-US" altLang="en-GB" sz="2400" dirty="0">
              <a:latin typeface="Times New Roman"/>
              <a:cs typeface="Times New Roman"/>
            </a:endParaRPr>
          </a:p>
          <a:p>
            <a:r>
              <a:rPr lang="en-US" altLang="en-GB" sz="2400" dirty="0">
                <a:latin typeface="Times New Roman"/>
                <a:cs typeface="Times New Roman"/>
              </a:rPr>
              <a:t>Curiosity and </a:t>
            </a:r>
            <a:r>
              <a:rPr lang="en-US" altLang="en-GB" sz="2400" dirty="0" err="1">
                <a:latin typeface="Times New Roman"/>
                <a:cs typeface="Times New Roman"/>
              </a:rPr>
              <a:t>reward :</a:t>
            </a:r>
            <a:r>
              <a:rPr lang="en-US" altLang="en-GB" sz="2400" dirty="0">
                <a:latin typeface="Times New Roman"/>
                <a:cs typeface="Times New Roman"/>
              </a:rPr>
              <a:t> offers of free items, prizes, or exclusive information motivate victims to click without thinking.</a:t>
            </a: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 y="133350"/>
            <a:ext cx="11642090" cy="1325880"/>
          </a:xfrm>
        </p:spPr>
        <p:txBody>
          <a:bodyPr>
            <a:normAutofit fontScale="90000"/>
          </a:bodyPr>
          <a:lstStyle/>
          <a:p>
            <a:r>
              <a:rPr lang="en-US" altLang="en-GB" b="1">
                <a:solidFill>
                  <a:schemeClr val="bg1"/>
                </a:solidFill>
              </a:rPr>
              <a:t>BEST PRACTICE AND TIPS TO AVOID FALLING VICTIMS </a:t>
            </a:r>
          </a:p>
        </p:txBody>
      </p:sp>
      <p:sp>
        <p:nvSpPr>
          <p:cNvPr id="3" name="Content Placeholder 2"/>
          <p:cNvSpPr>
            <a:spLocks noGrp="1"/>
          </p:cNvSpPr>
          <p:nvPr>
            <p:ph idx="1"/>
          </p:nvPr>
        </p:nvSpPr>
        <p:spPr>
          <a:xfrm>
            <a:off x="134620" y="1113155"/>
            <a:ext cx="11835765" cy="4631055"/>
          </a:xfrm>
        </p:spPr>
        <p:txBody>
          <a:bodyPr vert="horz" lIns="91440" tIns="45720" rIns="91440" bIns="45720" rtlCol="0" anchor="t">
            <a:normAutofit/>
          </a:bodyPr>
          <a:lstStyle/>
          <a:p>
            <a:pPr marL="0" indent="0">
              <a:buNone/>
            </a:pPr>
            <a:endParaRPr lang="en-US" altLang="en-GB"/>
          </a:p>
          <a:p>
            <a:pPr marL="0" indent="0">
              <a:buNone/>
            </a:pPr>
            <a:r>
              <a:rPr lang="en-US" altLang="en-GB" sz="2400">
                <a:latin typeface="Times New Roman"/>
                <a:cs typeface="Times New Roman"/>
              </a:rPr>
              <a:t>While attackers continue to refine their methods, a small set of consistent habits dramatically reduces the risk of falling victim to phishing and social engineering attacks.</a:t>
            </a:r>
          </a:p>
          <a:p>
            <a:pPr marL="0" indent="0">
              <a:buNone/>
            </a:pPr>
            <a:endParaRPr lang="en-US" altLang="en-GB" sz="2400" dirty="0">
              <a:latin typeface="Times New Roman"/>
              <a:cs typeface="Times New Roman"/>
            </a:endParaRPr>
          </a:p>
        </p:txBody>
      </p:sp>
      <p:graphicFrame>
        <p:nvGraphicFramePr>
          <p:cNvPr id="6" name="Table 5"/>
          <p:cNvGraphicFramePr/>
          <p:nvPr>
            <p:custDataLst>
              <p:tags r:id="rId1"/>
            </p:custDataLst>
            <p:extLst>
              <p:ext uri="{D42A27DB-BD31-4B8C-83A1-F6EECF244321}">
                <p14:modId xmlns:p14="http://schemas.microsoft.com/office/powerpoint/2010/main" val="4138192546"/>
              </p:ext>
            </p:extLst>
          </p:nvPr>
        </p:nvGraphicFramePr>
        <p:xfrm>
          <a:off x="417534" y="2797479"/>
          <a:ext cx="11026156" cy="3403905"/>
        </p:xfrm>
        <a:graphic>
          <a:graphicData uri="http://schemas.openxmlformats.org/drawingml/2006/table">
            <a:tbl>
              <a:tblPr/>
              <a:tblGrid>
                <a:gridCol w="5284033">
                  <a:extLst>
                    <a:ext uri="{9D8B030D-6E8A-4147-A177-3AD203B41FA5}">
                      <a16:colId xmlns:a16="http://schemas.microsoft.com/office/drawing/2014/main" val="20000"/>
                    </a:ext>
                  </a:extLst>
                </a:gridCol>
                <a:gridCol w="5742123">
                  <a:extLst>
                    <a:ext uri="{9D8B030D-6E8A-4147-A177-3AD203B41FA5}">
                      <a16:colId xmlns:a16="http://schemas.microsoft.com/office/drawing/2014/main" val="20001"/>
                    </a:ext>
                  </a:extLst>
                </a:gridCol>
              </a:tblGrid>
              <a:tr h="541846">
                <a:tc>
                  <a:txBody>
                    <a:bodyPr/>
                    <a:lstStyle/>
                    <a:p>
                      <a:pPr marL="0" indent="0">
                        <a:spcBef>
                          <a:spcPct val="0"/>
                        </a:spcBef>
                        <a:spcAft>
                          <a:spcPct val="0"/>
                        </a:spcAft>
                      </a:pPr>
                      <a:r>
                        <a:rPr sz="1000" b="1">
                          <a:solidFill>
                            <a:srgbClr val="FFFFFF"/>
                          </a:solidFill>
                          <a:latin typeface="Calibri" panose="020F0502020204030204"/>
                          <a:ea typeface="Calibri" panose="020F0502020204030204"/>
                        </a:rPr>
                        <a:t>Do</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2E8B57"/>
                    </a:solidFill>
                  </a:tcPr>
                </a:tc>
                <a:tc>
                  <a:txBody>
                    <a:bodyPr/>
                    <a:lstStyle/>
                    <a:p>
                      <a:pPr marL="0" indent="0">
                        <a:spcBef>
                          <a:spcPct val="0"/>
                        </a:spcBef>
                        <a:spcAft>
                          <a:spcPct val="0"/>
                        </a:spcAft>
                      </a:pPr>
                      <a:r>
                        <a:rPr sz="1000" b="1">
                          <a:solidFill>
                            <a:srgbClr val="FFFFFF"/>
                          </a:solidFill>
                          <a:latin typeface="Calibri" panose="020F0502020204030204"/>
                          <a:ea typeface="Calibri" panose="020F0502020204030204"/>
                        </a:rPr>
                        <a:t>Don't</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0392B"/>
                    </a:solidFill>
                  </a:tcPr>
                </a:tc>
                <a:extLst>
                  <a:ext uri="{0D108BD9-81ED-4DB2-BD59-A6C34878D82A}">
                    <a16:rowId xmlns:a16="http://schemas.microsoft.com/office/drawing/2014/main" val="10000"/>
                  </a:ext>
                </a:extLst>
              </a:tr>
              <a:tr h="416805">
                <a:tc>
                  <a:txBody>
                    <a:bodyPr/>
                    <a:lstStyle/>
                    <a:p>
                      <a:pPr marL="0" indent="0">
                        <a:spcBef>
                          <a:spcPct val="0"/>
                        </a:spcBef>
                        <a:spcAft>
                          <a:spcPct val="0"/>
                        </a:spcAft>
                      </a:pPr>
                      <a:r>
                        <a:rPr sz="1000" b="0">
                          <a:solidFill>
                            <a:srgbClr val="2E8B57"/>
                          </a:solidFill>
                          <a:latin typeface="Calibri" panose="020F0502020204030204"/>
                          <a:ea typeface="Calibri" panose="020F0502020204030204"/>
                        </a:rPr>
                        <a:t>Verify sender identity through a separate, trusted channel.</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click links or open attachments from unknown or unexpected senders.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1"/>
                  </a:ext>
                </a:extLst>
              </a:tr>
              <a:tr h="416805">
                <a:tc>
                  <a:txBody>
                    <a:bodyPr/>
                    <a:lstStyle/>
                    <a:p>
                      <a:pPr marL="0" indent="0">
                        <a:spcBef>
                          <a:spcPct val="0"/>
                        </a:spcBef>
                        <a:spcAft>
                          <a:spcPct val="0"/>
                        </a:spcAft>
                      </a:pPr>
                      <a:r>
                        <a:rPr sz="1000" b="0">
                          <a:solidFill>
                            <a:srgbClr val="2E8B57"/>
                          </a:solidFill>
                          <a:latin typeface="Calibri" panose="020F0502020204030204"/>
                          <a:ea typeface="Calibri" panose="020F0502020204030204"/>
                        </a:rPr>
                        <a:t>Hover over links to preview the actual URL before clicking.</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enter login credentials on a page reached through an email link.</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2"/>
                  </a:ext>
                </a:extLst>
              </a:tr>
              <a:tr h="416805">
                <a:tc>
                  <a:txBody>
                    <a:bodyPr/>
                    <a:lstStyle/>
                    <a:p>
                      <a:pPr marL="0" indent="0">
                        <a:spcBef>
                          <a:spcPct val="0"/>
                        </a:spcBef>
                        <a:spcAft>
                          <a:spcPct val="0"/>
                        </a:spcAft>
                      </a:pPr>
                      <a:r>
                        <a:rPr sz="1000" b="0">
                          <a:solidFill>
                            <a:srgbClr val="2E8B57"/>
                          </a:solidFill>
                          <a:latin typeface="Calibri" panose="020F0502020204030204"/>
                          <a:ea typeface="Calibri" panose="020F0502020204030204"/>
                        </a:rPr>
                        <a:t>Report phishing attempts to your organization's security team.</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respond to unsolicited requests for personal or financial information.</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3"/>
                  </a:ext>
                </a:extLst>
              </a:tr>
              <a:tr h="291763">
                <a:tc>
                  <a:txBody>
                    <a:bodyPr/>
                    <a:lstStyle/>
                    <a:p>
                      <a:pPr marL="0" indent="0">
                        <a:spcBef>
                          <a:spcPct val="0"/>
                        </a:spcBef>
                        <a:spcAft>
                          <a:spcPct val="0"/>
                        </a:spcAft>
                      </a:pPr>
                      <a:r>
                        <a:rPr sz="1000" b="0">
                          <a:solidFill>
                            <a:srgbClr val="2E8B57"/>
                          </a:solidFill>
                          <a:latin typeface="Calibri" panose="020F0502020204030204"/>
                          <a:ea typeface="Calibri" panose="020F0502020204030204"/>
                        </a:rPr>
                        <a:t>Use strong, unique passwords and a password manager.</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reuse the same password across multiple accounts.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4"/>
                  </a:ext>
                </a:extLst>
              </a:tr>
              <a:tr h="291763">
                <a:tc>
                  <a:txBody>
                    <a:bodyPr/>
                    <a:lstStyle/>
                    <a:p>
                      <a:pPr marL="0" indent="0">
                        <a:spcBef>
                          <a:spcPct val="0"/>
                        </a:spcBef>
                        <a:spcAft>
                          <a:spcPct val="0"/>
                        </a:spcAft>
                      </a:pPr>
                      <a:r>
                        <a:rPr sz="1000" b="0">
                          <a:solidFill>
                            <a:srgbClr val="2E8B57"/>
                          </a:solidFill>
                          <a:latin typeface="Calibri" panose="020F0502020204030204"/>
                          <a:ea typeface="Calibri" panose="020F0502020204030204"/>
                        </a:rPr>
                        <a:t>Enable multi-factor authentication wherever available.</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disable security warnings or pop-up blockers to “save time.”</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5"/>
                  </a:ext>
                </a:extLst>
              </a:tr>
              <a:tr h="291763">
                <a:tc>
                  <a:txBody>
                    <a:bodyPr/>
                    <a:lstStyle/>
                    <a:p>
                      <a:pPr marL="0" indent="0">
                        <a:spcBef>
                          <a:spcPct val="0"/>
                        </a:spcBef>
                        <a:spcAft>
                          <a:spcPct val="0"/>
                        </a:spcAft>
                      </a:pPr>
                      <a:r>
                        <a:rPr sz="1000" b="0">
                          <a:solidFill>
                            <a:srgbClr val="2E8B57"/>
                          </a:solidFill>
                          <a:latin typeface="Calibri" panose="020F0502020204030204"/>
                          <a:ea typeface="Calibri" panose="020F0502020204030204"/>
                        </a:rPr>
                        <a:t>Keep operating systems and applications updated.</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ignore software update prompts for extended periods.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4F6F9"/>
                    </a:solidFill>
                  </a:tcPr>
                </a:tc>
                <a:extLst>
                  <a:ext uri="{0D108BD9-81ED-4DB2-BD59-A6C34878D82A}">
                    <a16:rowId xmlns:a16="http://schemas.microsoft.com/office/drawing/2014/main" val="10006"/>
                  </a:ext>
                </a:extLst>
              </a:tr>
              <a:tr h="736355">
                <a:tc>
                  <a:txBody>
                    <a:bodyPr/>
                    <a:lstStyle/>
                    <a:p>
                      <a:pPr marL="0" indent="0">
                        <a:spcBef>
                          <a:spcPct val="0"/>
                        </a:spcBef>
                        <a:spcAft>
                          <a:spcPct val="0"/>
                        </a:spcAft>
                      </a:pPr>
                      <a:r>
                        <a:rPr sz="1000" b="0">
                          <a:solidFill>
                            <a:srgbClr val="2E8B57"/>
                          </a:solidFill>
                          <a:latin typeface="Calibri" panose="020F0502020204030204"/>
                          <a:ea typeface="Calibri" panose="020F0502020204030204"/>
                        </a:rPr>
                        <a:t>Take time to verify urgent requests, even from “colleagues.”</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lstStyle/>
                    <a:p>
                      <a:pPr marL="0" indent="0">
                        <a:spcBef>
                          <a:spcPct val="0"/>
                        </a:spcBef>
                        <a:spcAft>
                          <a:spcPct val="0"/>
                        </a:spcAft>
                      </a:pPr>
                      <a:r>
                        <a:rPr sz="1000" b="0">
                          <a:solidFill>
                            <a:srgbClr val="C0392B"/>
                          </a:solidFill>
                          <a:latin typeface="Calibri" panose="020F0502020204030204"/>
                          <a:ea typeface="Calibri" panose="020F0502020204030204"/>
                        </a:rPr>
                        <a:t>Don't let urgency or fear rush you into an immediate decision.</a:t>
                      </a:r>
                    </a:p>
                  </a:txBody>
                  <a:tcPr marL="76200" marR="76200" marT="63500" marB="6350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0" y="137890"/>
            <a:ext cx="11170920" cy="1325880"/>
          </a:xfrm>
        </p:spPr>
        <p:txBody>
          <a:bodyPr/>
          <a:lstStyle/>
          <a:p>
            <a:r>
              <a:rPr lang="en-US" altLang="en-GB" b="1" dirty="0"/>
              <a:t> </a:t>
            </a:r>
            <a:r>
              <a:rPr lang="en-US" altLang="en-GB" b="1">
                <a:solidFill>
                  <a:schemeClr val="bg1"/>
                </a:solidFill>
              </a:rPr>
              <a:t>REAL WORD EXAMPLE</a:t>
            </a:r>
            <a:r>
              <a:rPr lang="en-US" altLang="en-GB" dirty="0">
                <a:solidFill>
                  <a:schemeClr val="bg1"/>
                </a:solidFill>
              </a:rPr>
              <a:t> </a:t>
            </a:r>
          </a:p>
        </p:txBody>
      </p:sp>
      <p:sp>
        <p:nvSpPr>
          <p:cNvPr id="3" name="Content Placeholder 2"/>
          <p:cNvSpPr>
            <a:spLocks noGrp="1"/>
          </p:cNvSpPr>
          <p:nvPr>
            <p:ph idx="1"/>
          </p:nvPr>
        </p:nvSpPr>
        <p:spPr>
          <a:xfrm>
            <a:off x="188587" y="1046236"/>
            <a:ext cx="12003413" cy="5613400"/>
          </a:xfrm>
        </p:spPr>
        <p:txBody>
          <a:bodyPr vert="horz" lIns="91440" tIns="45720" rIns="91440" bIns="45720" rtlCol="0" anchor="t">
            <a:normAutofit/>
          </a:bodyPr>
          <a:lstStyle/>
          <a:p>
            <a:pPr marL="0" indent="0">
              <a:buNone/>
            </a:pPr>
            <a:r>
              <a:rPr lang="en-US" altLang="en-GB" b="1"/>
              <a:t>Example 1: The Google and Facebook Invoice Scam (2013–2015)</a:t>
            </a:r>
          </a:p>
          <a:p>
            <a:r>
              <a:rPr lang="en-US" altLang="en-GB">
                <a:latin typeface="Times New Roman"/>
                <a:cs typeface="Times New Roman"/>
              </a:rPr>
              <a:t>A Lithuanian national orchestrated a business email compromise scheme that impersonated a hardware manufacturer both companies worked with. By sending convincing fake invoices and forged corporate documents, the scammer tricked employees at both companies into wiring over $100 million to fraudulent bank accounts before the scheme was uncovered. This case demonstrates how attackers combine pretexting with document forgery to defeat even sophisticated corporate finance controls.</a:t>
            </a:r>
          </a:p>
          <a:p>
            <a:pPr marL="0" indent="0">
              <a:buNone/>
            </a:pPr>
            <a:r>
              <a:rPr lang="en-US" altLang="en-GB" b="1"/>
              <a:t>Example 2: The 2020 Twitter Verified-Account Breach</a:t>
            </a:r>
          </a:p>
          <a:p>
            <a:r>
              <a:rPr lang="en-US" altLang="en-GB">
                <a:latin typeface="Times New Roman"/>
                <a:cs typeface="Times New Roman"/>
              </a:rPr>
              <a:t>Attackers used vishing  phone-based social engineering  to impersonate IT staff and trick Twitter employees into revealing credentials for internal administrative tools. With that access, the attackers hijacked dozens of high-profile verified accounts to promote a cryptocurrency scam. The incident highlighted how a single successful social engineering call can bypass otherwise strong technical defenses.</a:t>
            </a:r>
          </a:p>
          <a:p>
            <a:pPr marL="0" indent="0">
              <a:buNone/>
            </a:pPr>
            <a:r>
              <a:rPr lang="en-US" altLang="en-GB" b="1"/>
              <a:t>Example 3: The Target Corporation Data Breach (2013)</a:t>
            </a:r>
          </a:p>
          <a:p>
            <a:r>
              <a:rPr lang="en-US" altLang="en-GB">
                <a:latin typeface="Times New Roman"/>
                <a:cs typeface="Times New Roman"/>
              </a:rPr>
              <a:t>Attackers gained an initial foothold by phishing credentials from a third-party HVAC vendor with network access to Target's systems. From that entry point, they moved laterally into point-of-sale systems and stole roughly 40 million customers' payment card details. The breach illustrates how phishing a single, less-guarded vendor can compromise an entire enterprise supply chain.</a:t>
            </a:r>
          </a:p>
          <a:p>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720" y="-663845"/>
            <a:ext cx="11238865" cy="1325880"/>
          </a:xfrm>
        </p:spPr>
        <p:txBody>
          <a:bodyPr/>
          <a:lstStyle/>
          <a:p>
            <a:r>
              <a:rPr lang="en-US" altLang="en-GB" b="1"/>
              <a:t>INTERACTIVE ASSESMENT QUIZ </a:t>
            </a:r>
          </a:p>
        </p:txBody>
      </p:sp>
      <p:sp>
        <p:nvSpPr>
          <p:cNvPr id="3" name="Content Placeholder 2"/>
          <p:cNvSpPr>
            <a:spLocks noGrp="1"/>
          </p:cNvSpPr>
          <p:nvPr>
            <p:ph idx="1"/>
          </p:nvPr>
        </p:nvSpPr>
        <p:spPr>
          <a:xfrm>
            <a:off x="162281" y="441568"/>
            <a:ext cx="11881921" cy="6155472"/>
          </a:xfrm>
        </p:spPr>
        <p:txBody>
          <a:bodyPr vert="horz" lIns="91440" tIns="45720" rIns="91440" bIns="45720" rtlCol="0" anchor="t">
            <a:noAutofit/>
          </a:bodyPr>
          <a:lstStyle/>
          <a:p>
            <a:pPr marL="0" indent="0">
              <a:buNone/>
            </a:pPr>
            <a:r>
              <a:rPr lang="en-US" altLang="en-GB" sz="1600" b="1">
                <a:solidFill>
                  <a:srgbClr val="FF0000"/>
                </a:solidFill>
                <a:latin typeface="Times New Roman"/>
                <a:cs typeface="Times New Roman"/>
              </a:rPr>
              <a:t>Question 1: </a:t>
            </a:r>
            <a:r>
              <a:rPr lang="en-US" altLang="en-GB" sz="1600" b="1">
                <a:latin typeface="Times New Roman"/>
                <a:cs typeface="Times New Roman"/>
              </a:rPr>
              <a:t>You receive an email from “Appl3-Support@icloud-verify.com” claiming your account has been locked and asking you to click a link to verify your identity within 1 hour. What should you do first?</a:t>
            </a:r>
            <a:endParaRPr lang="en-US" altLang="en-GB" sz="1600" b="1" dirty="0">
              <a:latin typeface="Times New Roman"/>
              <a:cs typeface="Times New Roman"/>
            </a:endParaRPr>
          </a:p>
          <a:p>
            <a:pPr marL="0" indent="0">
              <a:buNone/>
            </a:pPr>
            <a:r>
              <a:rPr lang="en-US" altLang="en-GB" sz="1600" b="1">
                <a:latin typeface="Times New Roman"/>
                <a:cs typeface="Times New Roman"/>
              </a:rPr>
              <a:t>A. Click the link immediately to avoid losing access</a:t>
            </a:r>
            <a:endParaRPr lang="en-US" altLang="en-GB" sz="1600" b="1" dirty="0">
              <a:latin typeface="Times New Roman"/>
              <a:cs typeface="Times New Roman"/>
            </a:endParaRPr>
          </a:p>
          <a:p>
            <a:pPr marL="0" indent="0">
              <a:buNone/>
            </a:pPr>
            <a:r>
              <a:rPr lang="en-US" altLang="en-GB" sz="1600" b="1">
                <a:latin typeface="Times New Roman"/>
                <a:cs typeface="Times New Roman"/>
              </a:rPr>
              <a:t>B. Reply to the email asking for more details</a:t>
            </a:r>
            <a:endParaRPr lang="en-US" altLang="en-GB" sz="1600" b="1" dirty="0">
              <a:latin typeface="Times New Roman"/>
              <a:cs typeface="Times New Roman"/>
            </a:endParaRPr>
          </a:p>
          <a:p>
            <a:pPr marL="0" indent="0">
              <a:buNone/>
            </a:pPr>
            <a:r>
              <a:rPr lang="en-US" altLang="en-GB" sz="1600" b="1">
                <a:latin typeface="Times New Roman"/>
                <a:cs typeface="Times New Roman"/>
              </a:rPr>
              <a:t>C. Check the sender's domain and go directly to Apple's official website instead of clicking the link</a:t>
            </a:r>
            <a:endParaRPr lang="en-US" altLang="en-GB" sz="1600" b="1" dirty="0">
              <a:latin typeface="Times New Roman"/>
              <a:cs typeface="Times New Roman"/>
            </a:endParaRPr>
          </a:p>
          <a:p>
            <a:pPr marL="0" indent="0">
              <a:buNone/>
            </a:pPr>
            <a:r>
              <a:rPr lang="en-US" altLang="en-GB" sz="1600" b="1">
                <a:latin typeface="Times New Roman"/>
                <a:cs typeface="Times New Roman"/>
              </a:rPr>
              <a:t>D. Forward the email to a friend for a second opinion</a:t>
            </a:r>
            <a:endParaRPr lang="en-US" altLang="en-GB" sz="1600" b="1" dirty="0">
              <a:latin typeface="Times New Roman"/>
              <a:cs typeface="Times New Roman"/>
            </a:endParaRPr>
          </a:p>
          <a:p>
            <a:pPr marL="0" indent="0">
              <a:buNone/>
            </a:pPr>
            <a:r>
              <a:rPr lang="en-US" altLang="en-GB" sz="1600" b="1">
                <a:solidFill>
                  <a:srgbClr val="FF0000"/>
                </a:solidFill>
                <a:latin typeface="Times New Roman"/>
                <a:cs typeface="Times New Roman"/>
              </a:rPr>
              <a:t>Question 2: </a:t>
            </a:r>
            <a:r>
              <a:rPr lang="en-US" altLang="en-GB" sz="1600" b="1">
                <a:latin typeface="Times New Roman"/>
                <a:cs typeface="Times New Roman"/>
              </a:rPr>
              <a:t>A caller claiming to be from your company's IT department asks for your network password to “fix an urgent security issue.” This is an example of which social engineering tactic?</a:t>
            </a:r>
            <a:endParaRPr lang="en-US" altLang="en-GB" sz="1600" b="1" dirty="0">
              <a:latin typeface="Times New Roman"/>
              <a:cs typeface="Times New Roman"/>
            </a:endParaRPr>
          </a:p>
          <a:p>
            <a:pPr marL="0" indent="0">
              <a:buNone/>
            </a:pPr>
            <a:r>
              <a:rPr lang="en-US" altLang="en-GB" sz="1600" b="1">
                <a:latin typeface="Times New Roman"/>
                <a:cs typeface="Times New Roman"/>
              </a:rPr>
              <a:t>A. Baiting</a:t>
            </a:r>
            <a:endParaRPr lang="en-US" altLang="en-GB" sz="1600" b="1" dirty="0">
              <a:latin typeface="Times New Roman"/>
              <a:cs typeface="Times New Roman"/>
            </a:endParaRPr>
          </a:p>
          <a:p>
            <a:pPr marL="0" indent="0">
              <a:buNone/>
            </a:pPr>
            <a:r>
              <a:rPr lang="en-US" altLang="en-GB" sz="1600" b="1">
                <a:latin typeface="Times New Roman"/>
                <a:cs typeface="Times New Roman"/>
              </a:rPr>
              <a:t>B. Vishing / Pretexting</a:t>
            </a:r>
            <a:endParaRPr lang="en-US" altLang="en-GB" sz="1600" b="1" dirty="0">
              <a:latin typeface="Times New Roman"/>
              <a:cs typeface="Times New Roman"/>
            </a:endParaRPr>
          </a:p>
          <a:p>
            <a:pPr marL="0" indent="0">
              <a:buNone/>
            </a:pPr>
            <a:r>
              <a:rPr lang="en-US" altLang="en-GB" sz="1600" b="1">
                <a:latin typeface="Times New Roman"/>
                <a:cs typeface="Times New Roman"/>
              </a:rPr>
              <a:t>C. Tailgating</a:t>
            </a:r>
            <a:endParaRPr lang="en-US" altLang="en-GB" sz="1600" b="1" dirty="0">
              <a:latin typeface="Times New Roman"/>
              <a:cs typeface="Times New Roman"/>
            </a:endParaRPr>
          </a:p>
          <a:p>
            <a:pPr marL="0" indent="0">
              <a:buNone/>
            </a:pPr>
            <a:r>
              <a:rPr lang="en-US" altLang="en-GB" sz="1600" b="1">
                <a:latin typeface="Times New Roman"/>
                <a:cs typeface="Times New Roman"/>
              </a:rPr>
              <a:t>D. Quid Pro Quo</a:t>
            </a:r>
            <a:endParaRPr lang="en-US" altLang="en-GB" sz="1600" b="1" dirty="0">
              <a:latin typeface="Times New Roman"/>
              <a:cs typeface="Times New Roman"/>
            </a:endParaRPr>
          </a:p>
          <a:p>
            <a:pPr marL="0" indent="0">
              <a:buNone/>
            </a:pPr>
            <a:r>
              <a:rPr lang="en-US" altLang="en-GB" sz="1600" b="1">
                <a:solidFill>
                  <a:srgbClr val="FF0000"/>
                </a:solidFill>
                <a:latin typeface="Times New Roman"/>
                <a:cs typeface="Times New Roman"/>
              </a:rPr>
              <a:t>Question 3:</a:t>
            </a:r>
            <a:r>
              <a:rPr lang="en-US" altLang="en-GB" sz="1600" b="1">
                <a:latin typeface="Times New Roman"/>
                <a:cs typeface="Times New Roman"/>
              </a:rPr>
              <a:t> Which of the following is the strongest indicator that a website may be fake?</a:t>
            </a:r>
            <a:endParaRPr lang="en-US" altLang="en-GB" sz="1600" b="1" dirty="0">
              <a:latin typeface="Times New Roman"/>
              <a:cs typeface="Times New Roman"/>
            </a:endParaRPr>
          </a:p>
          <a:p>
            <a:pPr marL="0" indent="0">
              <a:buNone/>
            </a:pPr>
            <a:r>
              <a:rPr lang="en-US" altLang="en-GB" sz="1600" b="1">
                <a:latin typeface="Times New Roman"/>
                <a:cs typeface="Times New Roman"/>
              </a:rPr>
              <a:t>A. The page loads slowly</a:t>
            </a:r>
            <a:endParaRPr lang="en-US" altLang="en-GB" sz="1600" b="1" dirty="0">
              <a:latin typeface="Times New Roman"/>
              <a:cs typeface="Times New Roman"/>
            </a:endParaRPr>
          </a:p>
          <a:p>
            <a:pPr marL="0" indent="0">
              <a:buNone/>
            </a:pPr>
            <a:r>
              <a:rPr lang="en-US" altLang="en-GB" sz="1600" b="1" dirty="0">
                <a:latin typeface="Times New Roman"/>
                <a:cs typeface="Times New Roman"/>
              </a:rPr>
              <a:t>B. The URL is slightly </a:t>
            </a:r>
            <a:r>
              <a:rPr lang="en-US" altLang="en-GB" sz="1600" b="1" dirty="0" err="1">
                <a:latin typeface="Times New Roman"/>
                <a:cs typeface="Times New Roman"/>
              </a:rPr>
              <a:t>misspelled</a:t>
            </a:r>
            <a:r>
              <a:rPr lang="en-US" altLang="en-GB" sz="1600" b="1" dirty="0">
                <a:latin typeface="Times New Roman"/>
                <a:cs typeface="Times New Roman"/>
              </a:rPr>
              <a:t> and the connection is not encrypted (no https/padlock)</a:t>
            </a:r>
          </a:p>
          <a:p>
            <a:pPr marL="0" indent="0">
              <a:buNone/>
            </a:pPr>
            <a:r>
              <a:rPr lang="en-US" altLang="en-GB" sz="1800" b="1">
                <a:latin typeface="Times New Roman"/>
                <a:cs typeface="Times New Roman"/>
              </a:rPr>
              <a:t>C. The website uses a blue color scheme</a:t>
            </a:r>
          </a:p>
          <a:p>
            <a:pPr marL="0" indent="0">
              <a:buNone/>
            </a:pPr>
            <a:r>
              <a:rPr lang="en-US" altLang="en-GB" sz="1800" b="1">
                <a:latin typeface="Times New Roman"/>
                <a:cs typeface="Times New Roman"/>
              </a:rPr>
              <a:t>D. The page has a contact form</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708" y="188812"/>
            <a:ext cx="11906885" cy="6173017"/>
          </a:xfrm>
        </p:spPr>
        <p:txBody>
          <a:bodyPr vert="horz" lIns="91440" tIns="45720" rIns="91440" bIns="45720" rtlCol="0" anchor="t">
            <a:normAutofit fontScale="95000"/>
          </a:bodyPr>
          <a:lstStyle/>
          <a:p>
            <a:pPr marL="0" indent="0">
              <a:buNone/>
            </a:pPr>
            <a:r>
              <a:rPr lang="en-US" altLang="en-GB" sz="2100" b="1">
                <a:solidFill>
                  <a:srgbClr val="FF0000"/>
                </a:solidFill>
                <a:latin typeface="Times New Roman"/>
                <a:cs typeface="Times New Roman"/>
              </a:rPr>
              <a:t>Question 4:</a:t>
            </a:r>
            <a:r>
              <a:rPr lang="en-US" altLang="en-GB" sz="2100" b="1" dirty="0">
                <a:latin typeface="Times New Roman"/>
                <a:cs typeface="Times New Roman"/>
              </a:rPr>
              <a:t> </a:t>
            </a:r>
            <a:r>
              <a:rPr lang="en-US" altLang="en-GB" sz="2100" b="1">
                <a:latin typeface="Times New Roman"/>
                <a:cs typeface="Times New Roman"/>
              </a:rPr>
              <a:t>You find a USB drive labeled “Confidential — Salary Report” in the office parking lot. What is the safest action?</a:t>
            </a:r>
            <a:endParaRPr lang="en-US" sz="2100">
              <a:latin typeface="Times New Roman"/>
              <a:cs typeface="Times New Roman"/>
            </a:endParaRPr>
          </a:p>
          <a:p>
            <a:pPr marL="0" indent="0">
              <a:buNone/>
            </a:pPr>
            <a:r>
              <a:rPr lang="en-US" altLang="en-GB" sz="2100" b="1">
                <a:latin typeface="Times New Roman"/>
                <a:cs typeface="Times New Roman"/>
              </a:rPr>
              <a:t>A. Plug it into your work computer to see whose it is</a:t>
            </a:r>
            <a:endParaRPr lang="en-US" altLang="en-GB" sz="2100" b="1" dirty="0">
              <a:latin typeface="Times New Roman"/>
              <a:cs typeface="Times New Roman"/>
            </a:endParaRPr>
          </a:p>
          <a:p>
            <a:pPr marL="0" indent="0">
              <a:buNone/>
            </a:pPr>
            <a:r>
              <a:rPr lang="en-US" altLang="en-GB" sz="2100" b="1">
                <a:latin typeface="Times New Roman"/>
                <a:cs typeface="Times New Roman"/>
              </a:rPr>
              <a:t>B. Give it to your IT/security team without plugging it in</a:t>
            </a:r>
            <a:endParaRPr lang="en-US" altLang="en-GB" sz="2100" b="1" dirty="0">
              <a:latin typeface="Times New Roman"/>
              <a:cs typeface="Times New Roman"/>
            </a:endParaRPr>
          </a:p>
          <a:p>
            <a:pPr marL="0" indent="0">
              <a:buNone/>
            </a:pPr>
            <a:r>
              <a:rPr lang="en-US" altLang="en-GB" sz="2100" b="1">
                <a:latin typeface="Times New Roman"/>
                <a:cs typeface="Times New Roman"/>
              </a:rPr>
              <a:t>C. Take it home to check it safely later</a:t>
            </a:r>
            <a:endParaRPr lang="en-US" altLang="en-GB" sz="2100" b="1" dirty="0">
              <a:latin typeface="Times New Roman"/>
              <a:cs typeface="Times New Roman"/>
            </a:endParaRPr>
          </a:p>
          <a:p>
            <a:pPr marL="0" indent="0">
              <a:buNone/>
            </a:pPr>
            <a:r>
              <a:rPr lang="en-US" altLang="en-GB" sz="2100" b="1">
                <a:latin typeface="Times New Roman"/>
                <a:cs typeface="Times New Roman"/>
              </a:rPr>
              <a:t>D. Plug it into a personal laptop instead</a:t>
            </a:r>
            <a:endParaRPr lang="en-US" altLang="en-GB" sz="2100" b="1" dirty="0">
              <a:latin typeface="Times New Roman"/>
              <a:cs typeface="Times New Roman"/>
            </a:endParaRPr>
          </a:p>
          <a:p>
            <a:pPr marL="0" indent="0">
              <a:buNone/>
            </a:pPr>
            <a:endParaRPr lang="en-US" altLang="en-GB" sz="2100" dirty="0"/>
          </a:p>
          <a:p>
            <a:pPr marL="0" indent="0">
              <a:buNone/>
            </a:pPr>
            <a:r>
              <a:rPr lang="en-US" altLang="en-GB" sz="2100" b="1">
                <a:solidFill>
                  <a:srgbClr val="FF0000"/>
                </a:solidFill>
                <a:latin typeface="Times New Roman"/>
                <a:cs typeface="Times New Roman"/>
              </a:rPr>
              <a:t>Question 5:</a:t>
            </a:r>
            <a:r>
              <a:rPr lang="en-US" altLang="en-GB" sz="2100" dirty="0">
                <a:solidFill>
                  <a:srgbClr val="FF0000"/>
                </a:solidFill>
                <a:latin typeface="Times New Roman"/>
                <a:cs typeface="Times New Roman"/>
              </a:rPr>
              <a:t> </a:t>
            </a:r>
            <a:r>
              <a:rPr lang="en-US" altLang="en-GB" sz="2100" b="1">
                <a:latin typeface="Times New Roman"/>
                <a:cs typeface="Times New Roman"/>
              </a:rPr>
              <a:t>Which practice provides the best additional protection for your accounts, even if your password is stolen?</a:t>
            </a:r>
            <a:endParaRPr lang="en-US" altLang="en-GB" sz="2100" b="1" dirty="0">
              <a:latin typeface="Times New Roman"/>
              <a:cs typeface="Times New Roman"/>
            </a:endParaRPr>
          </a:p>
          <a:p>
            <a:pPr marL="0" indent="0">
              <a:buNone/>
            </a:pPr>
            <a:r>
              <a:rPr lang="en-US" altLang="en-GB" sz="2100" b="1">
                <a:latin typeface="Times New Roman"/>
                <a:cs typeface="Times New Roman"/>
              </a:rPr>
              <a:t>A. Using the same strong password everywhere</a:t>
            </a:r>
            <a:endParaRPr lang="en-US" altLang="en-GB" sz="2100" b="1" dirty="0">
              <a:latin typeface="Times New Roman"/>
              <a:cs typeface="Times New Roman"/>
            </a:endParaRPr>
          </a:p>
          <a:p>
            <a:pPr marL="0" indent="0">
              <a:buNone/>
            </a:pPr>
            <a:r>
              <a:rPr lang="en-US" altLang="en-GB" sz="2100" b="1">
                <a:latin typeface="Times New Roman"/>
                <a:cs typeface="Times New Roman"/>
              </a:rPr>
              <a:t>B. Enabling multi-factor authentication (MFA)</a:t>
            </a:r>
            <a:endParaRPr lang="en-US" altLang="en-GB" sz="2100" b="1" dirty="0">
              <a:latin typeface="Times New Roman"/>
              <a:cs typeface="Times New Roman"/>
            </a:endParaRPr>
          </a:p>
          <a:p>
            <a:pPr marL="0" indent="0">
              <a:buNone/>
            </a:pPr>
            <a:r>
              <a:rPr lang="en-US" altLang="en-GB" sz="2100" b="1">
                <a:latin typeface="Times New Roman"/>
                <a:cs typeface="Times New Roman"/>
              </a:rPr>
              <a:t>C. Writing your password on a sticky note</a:t>
            </a:r>
            <a:endParaRPr lang="en-US" altLang="en-GB" sz="2100" b="1" dirty="0">
              <a:latin typeface="Times New Roman"/>
              <a:cs typeface="Times New Roman"/>
            </a:endParaRPr>
          </a:p>
          <a:p>
            <a:pPr marL="0" indent="0">
              <a:buNone/>
            </a:pPr>
            <a:r>
              <a:rPr lang="en-US" altLang="en-GB" sz="2100" b="1">
                <a:latin typeface="Times New Roman"/>
                <a:cs typeface="Times New Roman"/>
              </a:rPr>
              <a:t>D. Sharing your password only with trusted coworkers</a:t>
            </a:r>
            <a:endParaRPr lang="en-US" altLang="en-GB" sz="2100" b="1" dirty="0">
              <a:latin typeface="Times New Roman"/>
              <a:cs typeface="Times New Roman"/>
            </a:endParaRP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35" y="365125"/>
            <a:ext cx="11276965" cy="979805"/>
          </a:xfrm>
        </p:spPr>
        <p:txBody>
          <a:bodyPr/>
          <a:lstStyle/>
          <a:p>
            <a:r>
              <a:rPr lang="en-US" altLang="en-GB" b="1">
                <a:solidFill>
                  <a:schemeClr val="bg1"/>
                </a:solidFill>
              </a:rPr>
              <a:t>CONCLUSION</a:t>
            </a:r>
            <a:r>
              <a:rPr lang="en-US" altLang="en-GB" dirty="0">
                <a:solidFill>
                  <a:schemeClr val="bg1"/>
                </a:solidFill>
              </a:rPr>
              <a:t> </a:t>
            </a:r>
          </a:p>
        </p:txBody>
      </p:sp>
      <p:sp>
        <p:nvSpPr>
          <p:cNvPr id="3" name="Content Placeholder 2"/>
          <p:cNvSpPr>
            <a:spLocks noGrp="1"/>
          </p:cNvSpPr>
          <p:nvPr>
            <p:ph idx="1"/>
          </p:nvPr>
        </p:nvSpPr>
        <p:spPr>
          <a:xfrm>
            <a:off x="165022" y="1713682"/>
            <a:ext cx="11864340" cy="4766310"/>
          </a:xfrm>
        </p:spPr>
        <p:txBody>
          <a:bodyPr vert="horz" lIns="91440" tIns="45720" rIns="91440" bIns="45720" rtlCol="0" anchor="t">
            <a:normAutofit/>
          </a:bodyPr>
          <a:lstStyle/>
          <a:p>
            <a:pPr marL="0" indent="0">
              <a:buNone/>
            </a:pPr>
            <a:r>
              <a:rPr lang="en-US" altLang="en-GB" sz="2400">
                <a:latin typeface="Times New Roman"/>
                <a:cs typeface="Times New Roman"/>
              </a:rPr>
              <a:t>Phishing emails, fake websites, and social engineering tactics remain highly effective because they target human psychology rather than technology. By learning to recognize common red flags, understanding the manipulation tactics attackers use, and consistently applying simple protective habits, individuals and organizations can dramatically reduce their risk of falling victim.</a:t>
            </a:r>
          </a:p>
          <a:p>
            <a:pPr marL="0" indent="0">
              <a:buNone/>
            </a:pPr>
            <a:r>
              <a:rPr lang="en-US" altLang="en-GB" sz="2400">
                <a:latin typeface="Times New Roman"/>
                <a:cs typeface="Times New Roman"/>
              </a:rPr>
              <a:t>Cybersecurity is not solely the responsibility of IT departments every individual who uses email, browses the web, or answers a phone call plays a role in defending against these attacks. Awareness, healthy skepticism, and a habit of verifying before trusting are, ultimately, the most reliable defenses available.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96*375"/>
  <p:tag name="TABLE_ENDDRAG_RECT" val="54*63*796*375"/>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710*229"/>
  <p:tag name="TABLE_ENDDRAG_RECT" val="149*196*710*22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otalTime>0</TotalTime>
  <Words>10264</Words>
  <Application>Microsoft Office PowerPoint</Application>
  <PresentationFormat>Widescreen</PresentationFormat>
  <Paragraphs>191</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Ion</vt:lpstr>
      <vt:lpstr>CYBERSECURITY PHISING AWARENESS PROJECT</vt:lpstr>
      <vt:lpstr>INTRODUCTION </vt:lpstr>
      <vt:lpstr>OBJECTIVES OF THIS PROJECT </vt:lpstr>
      <vt:lpstr>RECOGNISING PHISING EMAILS AND FAKE WEBSITES </vt:lpstr>
      <vt:lpstr>PowerPoint Presentation</vt:lpstr>
      <vt:lpstr>PowerPoint Presentation</vt:lpstr>
      <vt:lpstr>Recognizing Fake Website </vt:lpstr>
      <vt:lpstr>HOW TO VERIFY A GENUINE WEBSITE </vt:lpstr>
      <vt:lpstr>SOCIAL ENGINEERING TATICS </vt:lpstr>
      <vt:lpstr>PowerPoint Presentation</vt:lpstr>
      <vt:lpstr>COMMON TATICS EXPLAINED </vt:lpstr>
      <vt:lpstr>THE PHISING ATTACK LIFE-CYCLE </vt:lpstr>
      <vt:lpstr>WHY THESE TATICS WORK </vt:lpstr>
      <vt:lpstr>BEST PRACTICE AND TIPS TO AVOID FALLING VICTIMS </vt:lpstr>
      <vt:lpstr> REAL WORD EXAMPLE </vt:lpstr>
      <vt:lpstr>INTERACTIVE ASSESMENT QUIZ </vt:lpstr>
      <vt:lpstr>PowerPoint Presentation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Elanky</cp:lastModifiedBy>
  <cp:revision>175</cp:revision>
  <dcterms:created xsi:type="dcterms:W3CDTF">2025-07-23T00:59:00Z</dcterms:created>
  <dcterms:modified xsi:type="dcterms:W3CDTF">2026-08-07T15:28:23Z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0F2794321B604845A25110347473B1D3_11</vt:lpwstr>
  </property>
  <property fmtid="{D5CDD505-2E9C-101B-9397-08002B2CF9AE}" pid="3" name="KSOProductBuildVer">
    <vt:lpwstr>2057-12.2.0.23206</vt:lpwstr>
  </property>
</Properties>
</file>